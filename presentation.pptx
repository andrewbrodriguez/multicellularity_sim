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EB"/>
                </a:solidFill>
              </a:rPr>
              <a:t>CS2212  ·  IN-PROGRESS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A1D2E"/>
                </a:solidFill>
              </a:rPr>
              <a:t>The Emergence of Multicellularity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A5D70"/>
                </a:solidFill>
              </a:rPr>
              <a:t>A physics-based evolutionary simulation of the defector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10515600" cy="9525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D2E"/>
                </a:solidFill>
              </a:rPr>
              <a:t>Andrew Rodriguez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5D70"/>
                </a:solidFill>
              </a:rPr>
              <a:t>April 2026   ·   Final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8289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physics-based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846320"/>
            <a:ext cx="1143000" cy="274320"/>
          </a:xfrm>
          <a:prstGeom prst="roundRect">
            <a:avLst>
              <a:gd name="adj" fmla="val 6000"/>
            </a:avLst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GPU-accelerated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84632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488289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evolutionary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846320"/>
            <a:ext cx="1371600" cy="274320"/>
          </a:xfrm>
          <a:prstGeom prst="roundRect">
            <a:avLst>
              <a:gd name="adj" fmla="val 6000"/>
            </a:avLst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48828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multilevel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Why did cells ever start cooperating?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Multicellularity is one of biology's major evolutionary transitions — and a paradox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Single cells dominated for ~2 billion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5D70"/>
                </a:solidFill>
              </a:rPr>
              <a:t>Then, independently, lineages began forming persistent cooperative clusters — animals, plants, fungi, algae. Something changed the fitness landscape to favour coming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5760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3A5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Cooperation looks irrational for the individual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5D70"/>
                </a:solidFill>
              </a:rPr>
              <a:t>Paying a metabolic cost to benefit neighbours is always undercut by a free-rider — a cell that receives the shared benefit without paying 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65760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7D00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So what makes cooperation persist?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8036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5D70"/>
                </a:solidFill>
              </a:rPr>
              <a:t>This project builds a simulation where we can tune environmental conditions and directly observe when defectors take over, when cooperators dominate, and what tips the balance.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13A5E"/>
                </a:solidFill>
              </a:rPr>
              <a:t>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The Defector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Defectors join clusters, collect shared rewards, and contribute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7607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144EB5"/>
                </a:solidFill>
              </a:rPr>
              <a:t>▸ A cluster jointly computes a complex task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Each contributing cell pays a compute cost (COOP_COST)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The reward is split evenly across every member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D13A5E"/>
                </a:solidFill>
              </a:rPr>
              <a:t>▸ A defector exploits this split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Adhesion bit = 1  (can join clusters)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Cooperator bit = 0  (does not contribute computation)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Gets the full per-cell share of any reward the cluster earns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1A1D2E"/>
                </a:solidFill>
              </a:rPr>
              <a:t>▸ Consequence inside a single cluster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Defectors have a strict per-tick fitness advantage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Over time, mutation drives cooperators → defectors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Cluster output collapses; the whole group starves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E"/>
                </a:solidFill>
              </a:rPr>
              <a:t>Fitness accounting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Cluster gross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R  =  Σ ( tile_reward × coop_scale )  −  drain × n_defectors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Per-cell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s  =  R  /  cluster_size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661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Per-tick fitness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</a:rPr>
              <a:t>cooperator :  +s  −  adhesion_cost  −  coop_cost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3A5E"/>
                </a:solidFill>
              </a:rPr>
              <a:t>defector      :  +s  −  adhesion_cost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709160"/>
            <a:ext cx="4937760" cy="9525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5D70"/>
                </a:solidFill>
              </a:rPr>
              <a:t>The defector's edge is exactly coop_cost.
Cooperation only survives when group-level benefits overwhelm the individual penalty — that's the regime we're hunting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B3FBF"/>
                </a:solidFill>
              </a:rPr>
              <a:t>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Multilevel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Two opposing forces act on the same genome at the same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D1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13A5E"/>
                </a:solidFill>
              </a:rPr>
              <a:t>WITHIN 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D2E"/>
                </a:solidFill>
              </a:rPr>
              <a:t>Individual Selection  →  defectors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Defectors skip COOP_COST every tick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Mutation pressure biased toward defection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    coop → def  at 2× base mutation rate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    def → coop at 0.3× base rate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Over generations, clusters drift toward defector-dominated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Then produce no task reward → collapse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BETWEEN 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D2E"/>
                </a:solidFill>
              </a:rPr>
              <a:t>Group Selection  →  cooperators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Cooperator-rich clusters earn higher total reward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Whole-cluster replication — the group is the selection unit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Functional clusters out-reproduce collapsing ones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A1D2E"/>
                </a:solidFill>
              </a:rPr>
              <a:t>▸ Spatial task specialisation amplifies the effect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    a tile rewards (AND, XOR) — need BOTH operations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    homogeneous clusters get zero on that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7B3FBF"/>
                </a:solidFill>
              </a:rPr>
              <a:t>The key dial: how much does the environment reward group-level coordination over individual efficiency?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Genome Encoding &amp; Task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Every cell carries 8 bits; cooperation requires genomic complementarity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760720" cy="2194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E"/>
                </a:solidFill>
              </a:rPr>
              <a:t>8-bit genome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48640" cy="292608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11095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4519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AND / OR / XOR / NAND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40279"/>
            <a:ext cx="548640" cy="292608"/>
          </a:xfrm>
          <a:prstGeom prst="roundRect">
            <a:avLst>
              <a:gd name="adj" fmla="val 6000"/>
            </a:avLst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76855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40279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adhesion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40279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can join clusters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39"/>
            <a:ext cx="548640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42615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06039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cooperator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606039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contributes computation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799"/>
            <a:ext cx="548640" cy="292608"/>
          </a:xfrm>
          <a:prstGeom prst="roundRect">
            <a:avLst>
              <a:gd name="adj" fmla="val 6000"/>
            </a:avLst>
          </a:prstGeom>
          <a:solidFill>
            <a:srgbClr val="949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08375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4-7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71799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971799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future traits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49039"/>
            <a:ext cx="5760720" cy="2743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E"/>
                </a:solidFill>
              </a:rPr>
              <a:t>Phenotype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519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</a:rPr>
              <a:t>▸ Cooperator implies adhesion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You can't contribute to a group if you can't physically join one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Cooperator = True  AND  Adhesion = True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D13A5E"/>
                </a:solidFill>
              </a:rPr>
              <a:t>▸ Defector = True  AND  NOT cooperator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144EB5"/>
                </a:solidFill>
              </a:rPr>
              <a:t>▸ Asymmetric mutation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coop → def : 2× base  ·  def → coop : 0.3× base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Reflects that breaking cooperation is genetically easier than building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5303520" cy="5120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508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D2E"/>
                </a:solidFill>
              </a:rPr>
              <a:t>Multi-step tasks require DIFFERENT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Example — 2-step task  (AND, XOR)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33172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377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cell₁
AND (A, B)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233172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377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cell₂
XOR (·, C)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49840" y="233172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377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shared
reward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468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A5D70"/>
                </a:solidFill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468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A5D70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2004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D13A5E"/>
                </a:solidFill>
              </a:rPr>
              <a:t>▸ A cluster of all-AND cooperators earns NOTHING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Even though they all "cooperate" genetically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</a:rPr>
              <a:t>▸ A cluster with one AND + one XOR unlocks the (AND, XOR) tile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Genome diversity is the requirement — not just the cooperator bit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144EB5"/>
                </a:solidFill>
              </a:rPr>
              <a:t>▸ Tiles reward only multi-step tasks (indices 4-11)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No reward for 1-step tasks → no incentive for solo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7D00"/>
                </a:solidFill>
              </a:rP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Spatial Reward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The 250µm × 250µm arena is tiled with task-specialised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44EB5"/>
                </a:solidFill>
              </a:rPr>
              <a:t>▸ Arena divided into spatial reward tiles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Each tile carries a 12-slot reward vector (one per task)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Drawn once at startup from a Dirichlet-Multinomial distribution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E67D00"/>
                </a:solidFill>
              </a:rPr>
              <a:t>▸ Rewards are sparse — most tiles specialise in 1-2 tasks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Dirichlet α controls concentration: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α = 0.01 → extreme specialisation (one tile rewards one task)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α = 5.0  → uniform rewards everywhere (no spatial selection)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2E7D32"/>
                </a:solidFill>
              </a:rPr>
              <a:t>▸ Clusters must MOVE to where their operation is valued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A cluster that can cover many tasks thrives across regions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A specialist cluster wins its tile but starves elsewhere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Creates ecological niches — the foundation for diversity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937760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914400" cy="914400"/>
          </a:xfrm>
          <a:prstGeom prst="rect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55448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554480"/>
            <a:ext cx="914400" cy="914400"/>
          </a:xfrm>
          <a:prstGeom prst="rect">
            <a:avLst/>
          </a:prstGeom>
          <a:solidFill>
            <a:srgbClr val="D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55480" y="155448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0" y="155448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514600"/>
            <a:ext cx="914400" cy="914400"/>
          </a:xfrm>
          <a:prstGeom prst="rect">
            <a:avLst/>
          </a:prstGeom>
          <a:solidFill>
            <a:srgbClr val="B5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514600"/>
            <a:ext cx="914400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51460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55480" y="2514600"/>
            <a:ext cx="914400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0" y="251460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474720"/>
            <a:ext cx="914400" cy="914400"/>
          </a:xfrm>
          <a:prstGeom prst="rect">
            <a:avLst/>
          </a:prstGeom>
          <a:solidFill>
            <a:srgbClr val="B5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474720"/>
            <a:ext cx="914400" cy="914400"/>
          </a:xfrm>
          <a:prstGeom prst="rect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347472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347472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0" y="3474720"/>
            <a:ext cx="914400" cy="914400"/>
          </a:xfrm>
          <a:prstGeom prst="rect">
            <a:avLst/>
          </a:prstGeom>
          <a:solidFill>
            <a:srgbClr val="B5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443484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43484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4434840"/>
            <a:ext cx="914400" cy="914400"/>
          </a:xfrm>
          <a:prstGeom prst="rect">
            <a:avLst/>
          </a:prstGeom>
          <a:solidFill>
            <a:srgbClr val="D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5480" y="4434840"/>
            <a:ext cx="914400" cy="914400"/>
          </a:xfrm>
          <a:prstGeom prst="rect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0" y="4434840"/>
            <a:ext cx="914400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539496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35240" y="539496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539496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55480" y="5394960"/>
            <a:ext cx="914400" cy="914400"/>
          </a:xfrm>
          <a:prstGeom prst="rect">
            <a:avLst/>
          </a:prstGeom>
          <a:solidFill>
            <a:srgbClr val="B5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0" y="5394960"/>
            <a:ext cx="914400" cy="914400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64922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5D70"/>
                </a:solidFill>
              </a:rPr>
              <a:t>5 × 5 tiles of 50µm each.  Colour = dominant task.  Grey = low reward.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6949440"/>
            <a:ext cx="4754880" cy="1097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6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70591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7D00"/>
                </a:solidFill>
              </a:rPr>
              <a:t>Tunable: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73152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D2E"/>
                </a:solidFill>
              </a:rPr>
              <a:t>task_alpha  ·  coop_reward_scale  ·  task_flip_period (MVG)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44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44EB5"/>
                </a:solidFill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Physics Engine — Cell_Sim_2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Gaussian pairwise force model with damped velocity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76072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E"/>
                </a:solidFill>
              </a:rPr>
              <a:t>Pairwise force  (§3.2)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44EB5"/>
                </a:solidFill>
              </a:rPr>
              <a:t>F(d)  =  A(d)  −  50 · R(d)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</a:rPr>
              <a:t>▸ A(d) attractive Gaussian — centre 35 µm, σ = 5 µm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Only between cells in the SAME cluster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No attraction across separate clusters — they stay independent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D13A5E"/>
                </a:solidFill>
              </a:rPr>
              <a:t>▸ R(d) repulsive Gaussian — centre −12.5 µm, σ = 10 µm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Applied to every pair — prevents overlap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Net equilibrium ~24 µm centre-to-centre inside a 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00600"/>
            <a:ext cx="5394960" cy="9525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D2E"/>
                </a:solidFill>
              </a:rPr>
              <a:t>Integration step  (§2.3)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1D2E"/>
                </a:solidFill>
              </a:rPr>
              <a:t>v  =  α · v_prev  +  M_i · F̂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5A5D70"/>
                </a:solidFill>
              </a:rPr>
              <a:t>x  =  x + v  +  √(2D) · ξ     (Brownian diffusion)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97A6"/>
                </a:solidFill>
              </a:rPr>
              <a:t>α = 0.12 damping · M_i = nearest-neighbour / 2 · max 4 µm/tick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530352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7D00"/>
                </a:solidFill>
              </a:rPr>
              <a:t>GPU acceleration via Taichi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144EB5"/>
                </a:solidFill>
              </a:rPr>
              <a:t>▸ Spatial hash — 10 µm grid  (§2.1)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25 × 25 buckets over the 250 µm arena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Bucket assignment via atomic_add → lock-free parallel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Force kernel scans 11×11 neighbourhood (110 µm reach)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E67D00"/>
                </a:solidFill>
              </a:rPr>
              <a:t>▸ Two separate Taichi kernels per tick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_update_velocity:  sum pairwise forces, apply damping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_update_position: integrate, add Brownian, reflect off walls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Separation avoids read/write race conditions (paper §2.2)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</a:rPr>
              <a:t>▸ Hardware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Metal backend on Apple Silicon (falls back to CPU)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~10× speedup over numpy for N &gt; 500 cells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5A5D70"/>
                </a:solidFill>
              </a:rPr>
              <a:t>    – Scales to 10,000+ cells in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What the simulation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Napari viewer — cells colour-coded by phenotype; scrub the time slider to replay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589520" cy="50292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VIDEO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3749040" y="3063240"/>
            <a:ext cx="1005840" cy="1005840"/>
          </a:xfrm>
          <a:prstGeom prst="triangl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1D2E"/>
                </a:solidFill>
              </a:rPr>
              <a:t>Baseline run — 500 ticks, default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7040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5D70"/>
                </a:solidFill>
              </a:rPr>
              <a:t>Lone cells scatter early (grey); adhesive cells bond into small clusters (blue cooperators, red defectors); watch clusters drift across task tiles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97A6"/>
                </a:solidFill>
              </a:rPr>
              <a:t>drop in:  videos/baseline_run.mp4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E"/>
                </a:solidFill>
              </a:rPr>
              <a:t>What to watch</a:t>
            </a:r>
          </a:p>
        </p:txBody>
      </p:sp>
      <p:sp>
        <p:nvSpPr>
          <p:cNvPr id="14" name="Oval 13"/>
          <p:cNvSpPr/>
          <p:nvPr/>
        </p:nvSpPr>
        <p:spPr>
          <a:xfrm>
            <a:off x="8458200" y="1965960"/>
            <a:ext cx="164592" cy="164592"/>
          </a:xfrm>
          <a:prstGeom prst="ellipse">
            <a:avLst/>
          </a:prstGeom>
          <a:solidFill>
            <a:srgbClr val="949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E"/>
                </a:solidFill>
              </a:rPr>
              <a:t>lone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1671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D70"/>
                </a:solidFill>
              </a:rPr>
              <a:t>no cluster, drifts; earns base stipend</a:t>
            </a:r>
          </a:p>
        </p:txBody>
      </p:sp>
      <p:sp>
        <p:nvSpPr>
          <p:cNvPr id="17" name="Oval 16"/>
          <p:cNvSpPr/>
          <p:nvPr/>
        </p:nvSpPr>
        <p:spPr>
          <a:xfrm>
            <a:off x="8458200" y="2651760"/>
            <a:ext cx="164592" cy="16459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6243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E"/>
                </a:solidFill>
              </a:rPr>
              <a:t>cooperator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52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D70"/>
                </a:solidFill>
              </a:rPr>
              <a:t>contributes compute, pays coop_cost</a:t>
            </a:r>
          </a:p>
        </p:txBody>
      </p:sp>
      <p:sp>
        <p:nvSpPr>
          <p:cNvPr id="20" name="Oval 19"/>
          <p:cNvSpPr/>
          <p:nvPr/>
        </p:nvSpPr>
        <p:spPr>
          <a:xfrm>
            <a:off x="8458200" y="3337560"/>
            <a:ext cx="164592" cy="164592"/>
          </a:xfrm>
          <a:prstGeom prst="ellipse">
            <a:avLst/>
          </a:prstGeom>
          <a:solidFill>
            <a:srgbClr val="D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3101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E"/>
                </a:solidFill>
              </a:rPr>
              <a:t>defector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38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D70"/>
                </a:solidFill>
              </a:rPr>
              <a:t>reaps share, pays nothing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4023360"/>
            <a:ext cx="164592" cy="164592"/>
          </a:xfrm>
          <a:prstGeom prst="ellipse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9959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E"/>
                </a:solidFill>
              </a:rPr>
              <a:t>cluster bond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245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D70"/>
                </a:solidFill>
              </a:rPr>
              <a:t>visible link between adhered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EXPERIMENT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How strong does cooperation's reward need to be?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Sweep: coop_reward_scale  ·  range  0.02 → 1.00  ·  3 seeds × 8 values</a:t>
            </a:r>
          </a:p>
        </p:txBody>
      </p:sp>
      <p:pic>
        <p:nvPicPr>
          <p:cNvPr id="6" name="Picture 5" descr="coop_bonus_coop_bonu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8638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5D70"/>
                </a:solidFill>
              </a:rPr>
              <a:t>coop_reward_scale vs final population composition, selection pressures, and cluster genome diversity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71600"/>
            <a:ext cx="338328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D2E"/>
                </a:solidFill>
              </a:rPr>
              <a:t>Sharp phase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D13A5E"/>
                </a:solidFill>
              </a:rPr>
              <a:t>▸ Below ~0.10, cooperators collapse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coop_cost dominates the tiny shared reward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2E7D32"/>
                </a:solidFill>
              </a:rPr>
              <a:t>▸ Above ~0.15, cooperation stabilises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Group benefit exceeds individual cost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E67D00"/>
                </a:solidFill>
              </a:rPr>
              <a:t>▸ Default (0.15) sits right at the knee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Small parameter shifts → big behavioural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</a:rPr>
              <a:t>≈ 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tipping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6FEB"/>
                </a:solidFill>
              </a:rPr>
              <a:t>5% → 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coop% jump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44EB5"/>
                </a:solidFill>
              </a:rPr>
              <a:t>24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trials (8 ×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760720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8978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67D00"/>
                </a:solidFill>
              </a:rPr>
              <a:t>1500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537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ticks /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Below vs. above the cooperation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Same seed, two values of coop_reward_scale — the outcome diverges completely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760720" cy="4572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VIDEO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743200" y="2880360"/>
            <a:ext cx="1005840" cy="1005840"/>
          </a:xfrm>
          <a:prstGeom prst="triangl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1D2E"/>
                </a:solidFill>
              </a:rPr>
              <a:t>coop_reward_scale = 0.05   —   cooperation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5D70"/>
                </a:solidFill>
              </a:rPr>
              <a:t>Clusters form but cooperators die out faster than they're born; defectors dominate; clusters collapse into lone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97A6"/>
                </a:solidFill>
              </a:rPr>
              <a:t>drop in:  videos/coop_scale_low.mp4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VIDEO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8549640" y="2880360"/>
            <a:ext cx="1005840" cy="1005840"/>
          </a:xfrm>
          <a:prstGeom prst="triangl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1D2E"/>
                </a:solidFill>
              </a:rPr>
              <a:t>coop_reward_scale = 0.40   —   cooperation thrives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348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5D70"/>
                </a:solidFill>
              </a:rPr>
              <a:t>Multi-operation clusters stabilise; cooperators fill the arena; defectors stay rare and localised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623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97A6"/>
                </a:solidFill>
              </a:rPr>
              <a:t>drop in:  videos/coop_scale_high.mp4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6172200"/>
            <a:ext cx="114300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A1D2E"/>
                </a:solidFill>
              </a:rPr>
              <a:t>Same physics. Same mutation rate. Same seed. Only the reward multiplier changed — and a whole evolutionary outcome flipped.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7D00"/>
                </a:solidFill>
              </a:rPr>
              <a:t>EXPERIMENT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Does spatial task specialisation select for genome diversity?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Sweep: task_alpha (Dirichlet concentration)  ·  0.01 (harsh) → 5.0 (uniform)</a:t>
            </a:r>
          </a:p>
        </p:txBody>
      </p:sp>
      <p:pic>
        <p:nvPicPr>
          <p:cNvPr id="6" name="Picture 5" descr="task_distribution_ta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8638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6235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5D70"/>
                </a:solidFill>
              </a:rPr>
              <a:t>task_alpha vs population mix, selection pressures, cluster op-diversity, and Shannon entropy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371600"/>
            <a:ext cx="3383280" cy="5029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5240">
            <a:solidFill>
              <a:srgbClr val="E67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7D00"/>
                </a:solidFill>
              </a:rPr>
              <a:t>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D2E"/>
                </a:solidFill>
              </a:rPr>
              <a:t>Specialisation breeds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E67D00"/>
                </a:solidFill>
              </a:rPr>
              <a:t>▸ Low α (sparse tiles)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Clusters need ≥3 distinct ops to harvest local tile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Strong group selection pressure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D13A5E"/>
                </a:solidFill>
              </a:rPr>
              <a:t>▸ High α (uniform tiles)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Any cluster earns on any tile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No incentive for complementarity → defectors thrive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Cluster genome entropy tracks α almost linearly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67D00"/>
                </a:solidFill>
              </a:rPr>
              <a:t>α ≤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pro-coop regime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D13A5E"/>
                </a:solidFill>
              </a:rPr>
              <a:t>α ≥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pro-defect regime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76072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897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</a:rPr>
              <a:t>3.2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537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ops/cluster at α=0.01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760720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8978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5A5D70"/>
                </a:solidFill>
              </a:rPr>
              <a:t>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537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D70"/>
                </a:solidFill>
              </a:rPr>
              <a:t>ops/cluster at α=5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Harsh specialisation vs. flat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Watch how the spatial reward structure shapes cluster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760720" cy="4572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VIDEO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743200" y="2880360"/>
            <a:ext cx="1005840" cy="1005840"/>
          </a:xfrm>
          <a:prstGeom prst="triangl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1D2E"/>
                </a:solidFill>
              </a:rPr>
              <a:t>task_alpha = 0.01  —  harsh specialisation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5D70"/>
                </a:solidFill>
              </a:rPr>
              <a:t>Each tile rewards one task; clusters visibly shuttle to their home regions, and internal genome diversity is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97A6"/>
                </a:solidFill>
              </a:rPr>
              <a:t>drop in:  videos/task_alpha_low.mp4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6FEB"/>
                </a:solidFill>
              </a:rPr>
              <a:t>VIDEO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8549640" y="2880360"/>
            <a:ext cx="1005840" cy="1005840"/>
          </a:xfrm>
          <a:prstGeom prst="triangl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A1D2E"/>
                </a:solidFill>
              </a:rPr>
              <a:t>task_alpha = 5.0  —  uniform rewards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348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A5D70"/>
                </a:solidFill>
              </a:rPr>
              <a:t>No tile cares which task you do; clusters are generic and small; defector invasions are common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623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97A6"/>
                </a:solidFill>
              </a:rPr>
              <a:t>drop in:  videos/task_alpha_high.mp4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6172200"/>
            <a:ext cx="114300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1A1D2E"/>
                </a:solidFill>
              </a:rPr>
              <a:t>Spatial structure isn't cosmetic — it's the substrate that lets multicellularity pay 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B3FBF"/>
                </a:solidFill>
              </a:rPr>
              <a:t>WHAT'S NEXT — CORE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Where I'm taking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The infrastructure is complete; these are the science questions I'm actively pursuing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53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91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Modularly-Varying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291839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The hypothesis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If the rewarding task structure flips periodically, selection should favour genomes that can rapidly reconfigure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What I'll measure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Cluster op-diversity vs. flip period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Post-flip recovery time for coop%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Does modularity in genome space correspond to resilience?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41732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D1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399" y="141732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D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453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1920240"/>
            <a:ext cx="3291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Defector invasion 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06040"/>
            <a:ext cx="3291839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The hypothesis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A newly-formed cooperator cluster is metastable — mutation eventually produces a defector inside it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What I'll measure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Time from cluster birth to first defector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Time from first defector to collapse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How kin-selection (genome-similarity bonding) changes both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141732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8" y="1417320"/>
            <a:ext cx="548640" cy="32004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1453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1920240"/>
            <a:ext cx="3291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E"/>
                </a:solidFill>
              </a:rPr>
              <a:t>Joint parameter phase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2606040"/>
            <a:ext cx="3291839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The hypothesis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The two experiments so far varied one axis each — the real structure lives in the 2D (α × coop_scale) plane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144EB5"/>
                </a:solidFill>
              </a:rPr>
              <a:t>▸ What I'll measure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Grid sweep over both parameters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Map regimes: defector, cooperative, extinction, oscillating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000" b="0">
                <a:solidFill>
                  <a:srgbClr val="5A5D70"/>
                </a:solidFill>
              </a:rPr>
              <a:t>    – Identify the phase boundary analytically if 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A5D70"/>
                </a:solidFill>
              </a:rPr>
              <a:t>BEYOND THE CORE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D2E"/>
                </a:solidFill>
              </a:rPr>
              <a:t>Longer-horizon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A5D70"/>
                </a:solidFill>
              </a:rPr>
              <a:t>Questions I'd love to explore if time permits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2E7D32"/>
                </a:solidFill>
              </a:rPr>
              <a:t>▸ Emergent division of labour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Do successful clusters converge on complementary operation pairs (AND+XOR, OR+NAND)?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Can we detect proto-specialisation from genome phylogenies across replicate runs?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F6FEB"/>
                </a:solidFill>
              </a:rPr>
              <a:t>▸ Spatial ecology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Do cooperator clusters form stable territories against lone-defector invaders?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Do ecological niches emerge naturally from Dirichlet-sparse rewards?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E67D00"/>
                </a:solidFill>
              </a:rPr>
              <a:t>▸ Longer evolutionary horizons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Current runs: 1,000–5,000 ticks.  Target: 50,000+ to observe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Do cooperation and defection oscillate (Red Queen dynamics)?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7B3FBF"/>
                </a:solidFill>
              </a:rPr>
              <a:t>▸ Further genome traits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Bits 4–7 are reserved — candidates: signalling, apoptosis, kin-recognition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Does signalling between cooperators break the defector's cover?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400" b="1">
                <a:solidFill>
                  <a:srgbClr val="144EB5"/>
                </a:solidFill>
              </a:rPr>
              <a:t>▸ Better analytics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Lineage tracking across runs — build phylogenetic trees from cell_id ancestry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5A5D70"/>
                </a:solidFill>
              </a:rPr>
              <a:t>    – Automatic regime classification from time-series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D2E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600" b="1">
                <a:solidFill>
                  <a:srgbClr val="1A1D2E"/>
                </a:solidFill>
              </a:rPr>
              <a:t>▸ Built a GPU-accelerated, physics-based evolutionary simulation of multicellularity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Cell_Sim_2 Gaussian force model · Taichi Metal backend · O(N) spatial hash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600" b="1">
                <a:solidFill>
                  <a:srgbClr val="2E7D32"/>
                </a:solidFill>
              </a:rPr>
              <a:t>▸ Task computation requires DIFFERENT operations from DIFFERENT cells — homogeneous clusters earn nothing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Cooperation is enforced at the phenotype level, not just named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600" b="1">
                <a:solidFill>
                  <a:srgbClr val="1F6FEB"/>
                </a:solidFill>
              </a:rPr>
              <a:t>▸ Two experiments completed: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Cooperation emerges past a sharp reward-scale threshold (~0.12)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Spatial task specialisation selects for cluster genome diversity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600" b="1">
                <a:solidFill>
                  <a:srgbClr val="7B3FBF"/>
                </a:solidFill>
              </a:rPr>
              <a:t>▸ Next up: MVG task-flipping, defector invasion timing, 2D phase diagram over (α × coop_scale)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300" b="0">
                <a:solidFill>
                  <a:srgbClr val="5A5D70"/>
                </a:solidFill>
              </a:rPr>
              <a:t>    – Infrastructure ready: batch sweep script, CSV export, publication-quality figure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760720"/>
            <a:ext cx="10972800" cy="9525"/>
          </a:xfrm>
          <a:prstGeom prst="rect">
            <a:avLst/>
          </a:prstGeom>
          <a:solidFill>
            <a:srgbClr val="E4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D2E"/>
                </a:solidFill>
              </a:rPr>
              <a:t>Thank you  —  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D70"/>
                </a:solidFill>
              </a:rPr>
              <a:t>Andrew Rodriguez   ·   andrewbrodriguez@gmail.com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97A6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